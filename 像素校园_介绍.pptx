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开场（20 秒）：像素校园 · AI 万事通。它不是一个校园信息 App，而是一个把自己画进校园里的小世界——你会换来的不是一份数据，是一段"这个地方认得我"的体验。接下来按三块讲：先讲四个智能体各自会干什么，再讲玩家能玩什么，最后讲我们真正新在哪儿。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向导小北（40 秒）：先说最容易被忽略的第四个人。他管的是地图导航、带路和定位，玩家说一个目的地，他的镜头会飞过去并且高亮那栋楼，走的路径是沿着可行走区域算出来的。要注意他是四家里唯一不进社交网络的——他不参与记忆转述，也不回答课程和失物，问到他不懂的，他会说"这个得问人，我带你过去"。这就是我们说的"导航"与"社交"的分工：一个负责把人送到，一个负责把人答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学长甲（50 秒）：他是校园信息库加 AI 问答。这里最想讲的是"答案是一条路径"——我们手工写了约 180 个节点、10 类边、约 200 条三元组，两跳 BFS 就能把关系走通，所以答案可以解释，幻觉无处可藏。第二条是图谱负责"正确"、记忆负责"磨损"：同一个问题今天问和下周问，回答里的细节可能少了一块，因为信息被人传走了。第三条是他有认知边界，knows 里没有的他会直说不知道。人格配置里 refuses 和 unknown_line 这两个字段是最值钱的，因为"我不知道"比"答对了"更有说服力。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阿姨丙（40 秒）：她管众包口碑。第一个设计决定是不做打分 UI——玩家在对话里夸一句、骂一句，那就是一次评价，不需要跳出对话去点星星。第二个是时间衰减，权重是 0.5 的天数除以 30 次方，半衰期 30 天，所以上个月的好评压不过昨天的差评，老评价会自己变轻。第三，她只说自己窗口这一摊，问她图书馆几点关门她会直接说不归她管。她和学长、保安共用一个拒答口径，所以三个人的"不知道"听起来是一致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保安老丁（50 秒）：他管失物招领和报修，而且是全图唯一叫得动的人。失物招领是四个维度的相似度打分——类别、地点、时间、描述，如果用以图搜物命中了，描述那一维就直接被替代掉。报修会写成工单进公共层，所以别人能追问进度，它不是一段私聊。最有画面感的是"被呼唤"：玩家点一下呼叫，他从当前位置沿路网绕开建筑走过来，头顶冒一个感叹号，比平时快；只在 08:00 到 22:00 应答。我们特意保留了他走过来那段等待——那不是延迟，是仪式感。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玩法（45 秒）：我们有六个玩法：此刻、传说、今天、到此一游、遗留物、校园猫谱。注意右边那一列——每一个都不是凭空设计的，而是从系统已经具备的能力里长出来的。我们筛选玩法只有一个判据：把"校园"两个字换成别的，这个玩法还成立吗？成立的就是俗玩法，全部砍掉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最值钱的三个（40 秒）：传说是一个任务栏式的解谜，图鉴里只给问号，玩家自己去问、自己去输入，按要素命中判分，三个人的碎片拼出完整版。遗留物是单机模式的漂流瓶，A 埋下、B 捡到。校园猫谱是六个玩法里唯一要新美术的——每只猫单独记得你，六档行为谱，掉档渐进不断崖，而且不给玩家看数字，行为就是呈现。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创新一·智能体社交（45 秒）：多个智能体之间靠"转述"传递信息，而转述一定会走样。我们把这一点做成了机制而不是缺陷：同一件事，三个人记的永远不一样。记忆还分公共层和私密层，检索规则是"公共的，或者属于当前玩家的"。底下还有三层约束保证它既真又不失控：触发层限制每天最多六次交流，生成层让两个人各自只看得见自己的记忆、所以信息天然不对称，准入层保证私密信息永不外传。这个机制直接长出了玩法里的「传说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创新二·主动性（45 秒）：要解决的问题是告警疲劳——低精度的主动提醒，用户会直接把整个功能关掉，所以"何时帮助"比"如何帮助"更难。我们用三层解法把"想说"关进笼子：主动预算每人每天最多一两次，同一条规则触发后进冷却，多条命中时只发最重要的那条、其余转信箱。第二，主动性终于有了物理载体——巡逻：保安走到你附近才开口。系统推送让人烦，路上碰见跟你说一句是社交，告警疲劳就天然消失了。第三是跨人去重，靠社交网络的"已告知"标记，学长告诉过阿姨的事不会再有第二个人重复提醒你——创新一和创新二就在这里接上了。最后，一次主动提醒必须由地图、时间、记忆三者交叉才算得出来，单独任何一维都不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创新三·世界层（45 秒）：这是整个世界的地基。5208 × 2929 个世界像素，一格 32 像素，与世界画布 13.33333 × 7.5 英寸同源——所以任何一处细节都能精确换算回真实坐标。29 款屋名标牌是烘焙进精灵里的，不是贴上去的图层。下面这三个地标最能说明问题：思源楼是按实拍重绘的，题字、攒尖顶、角亭的竖玻璃槽都在；明湖有石碑、湖心岛小亭和水中央的石塔；南门是红拱，校名用的是毛笔字的点阵还原。地图在这里不是背景板，它就是坐标系本身——社交模式下，玩家在现实里走到哪，像素世界里的他就站在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创新四·社交模式（40 秒）：这是附加功能，不做也能交，但它是整个项目最强的记忆点。单机模式是 50 个独立会话，看不到真人，但看得到痕迹；社交模式把真实坐标映射进像素世界。要强调一句：单机模式不是"没有社交"——它本来就共享世界状态、公共记忆层和异步痕迹，这一点很关键，因为它让玩法「遗留物」几乎是零成本落地的。真要把真实校园叠上去，只需要两个数：每米 9 个世界像素这个尺度已经由思源楼的标尺唯一确定，再用两个校门的真实坐标就能精确叠合，第三个校门用来验证准不准，最后把真实正北转到地图上方。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收尾（20 秒）：总结成四句——世界是考据级的，人是会磨损的，玩法是长出来的，牵挂是轻的。我们想做的不是一个查得到信息的校园，而是一个"这个校园认得我"的小世界。谢谢。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11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22720" y="-38000"/>
            <a:ext cx="6504232" cy="693400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_cover.png"/>
          <p:cNvPicPr>
            <a:picLocks noChangeAspect="1"/>
          </p:cNvPicPr>
          <p:nvPr/>
        </p:nvPicPr>
        <p:blipFill>
          <a:blip r:embed="rId1"/>
          <a:srcRect l="24837" r="24837"/>
          <a:stretch>
            <a:fillRect/>
          </a:stretch>
        </p:blipFill>
        <p:spPr>
          <a:xfrm>
            <a:off x="5760720" y="0"/>
            <a:ext cx="6428232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60720" y="0"/>
            <a:ext cx="45000" cy="6858000"/>
          </a:xfrm>
          <a:prstGeom prst="rect">
            <a:avLst/>
          </a:prstGeom>
          <a:solidFill>
            <a:srgbClr val="11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89888"/>
            <a:ext cx="237744" cy="237744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389888"/>
            <a:ext cx="237744" cy="23774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20" y="1389888"/>
            <a:ext cx="237744" cy="237744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北京交通大学 · 系统总体设计 v1.5</a:t>
            </a:r>
            <a:endParaRPr sz="12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2231136"/>
            <a:ext cx="48463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像素校园</a:t>
            </a:r>
            <a:endParaRPr sz="44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  <a:p>
            <a:pPr algn="l">
              <a:lnSpc>
                <a:spcPct val="106000"/>
              </a:lnSpc>
            </a:pPr>
            <a:r>
              <a:rPr sz="4400" b="1">
                <a:solidFill>
                  <a:srgbClr val="6DBF6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AI 万事通</a:t>
            </a:r>
            <a:endParaRPr sz="4400" b="1">
              <a:solidFill>
                <a:srgbClr val="6DBF67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7240" y="4041648"/>
            <a:ext cx="1371600" cy="3000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15968"/>
            <a:ext cx="466344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sz="170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基于多智能体的，问答游戏一体化</a:t>
            </a:r>
            <a:r>
              <a:rPr lang="zh-CN" sz="170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项目</a:t>
            </a:r>
            <a:endParaRPr lang="zh-CN" sz="170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5806440"/>
            <a:ext cx="475488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sz="12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张路坤组</a:t>
            </a:r>
            <a:r>
              <a:rPr sz="12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的课程项目 · 2026.09</a:t>
            </a:r>
            <a:endParaRPr sz="12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11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6" cy="4500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6DBF6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产品功能 ① ／ 向导</a:t>
            </a:r>
            <a:endParaRPr sz="1150" b="1">
              <a:solidFill>
                <a:srgbClr val="6DBF67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向导 · 小北</a:t>
            </a:r>
            <a:endParaRPr sz="27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0350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02 / 12</a:t>
            </a:r>
            <a:endParaRPr sz="12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63825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2C14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他不是路牌，是会把路讲给你听、还会带你过去的向导</a:t>
            </a:r>
            <a:endParaRPr sz="1700" b="1">
              <a:solidFill>
                <a:srgbClr val="F2C14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883664"/>
            <a:ext cx="45000" cy="713232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83664"/>
            <a:ext cx="61081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带路：说出来，他自己走过去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384" y="2157984"/>
            <a:ext cx="61447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镜头飞到目的地并高亮那栋楼；路径沿可行走区域算，不穿墙、不跳格。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2743200"/>
            <a:ext cx="45000" cy="713232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743200"/>
            <a:ext cx="61081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定位：你在哪，地图上就在哪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6384" y="3017520"/>
            <a:ext cx="61447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每米 9 个世界像素，真实坐标直接落在像素校园上，不需要"大概位置"。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6928" y="3602736"/>
            <a:ext cx="45000" cy="7132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602736"/>
            <a:ext cx="61081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不参与社交网络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6384" y="3877056"/>
            <a:ext cx="61447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他不进记忆转述链——三跳演示里没有他，这不是遗漏，是分工。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66928" y="4462272"/>
            <a:ext cx="45000" cy="713232"/>
          </a:xfrm>
          <a:prstGeom prst="rect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462272"/>
            <a:ext cx="61081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只管路，不管事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6384" y="4736592"/>
            <a:ext cx="61447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问课程、问失物，他会把你转给对应的人，而不是硬答。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6928" y="5431536"/>
            <a:ext cx="6382512" cy="804672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431536"/>
            <a:ext cx="45000" cy="804672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5541264"/>
            <a:ext cx="5961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边界：功能型智能体，四家里唯一不在社交网络上的人</a:t>
            </a:r>
            <a:endParaRPr sz="11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6384" y="5852160"/>
            <a:ext cx="59618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「这个得问人，我带你过去。」—— 他是"导航"与"社交"分工的那一半。</a:t>
            </a:r>
            <a:endParaRPr sz="10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231480" y="1333600"/>
            <a:ext cx="4446832" cy="2288848"/>
          </a:xfrm>
          <a:prstGeom prst="rect">
            <a:avLst/>
          </a:prstGeom>
          <a:solidFill>
            <a:srgbClr val="2C3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world_clean.png"/>
          <p:cNvPicPr>
            <a:picLocks noChangeAspect="1"/>
          </p:cNvPicPr>
          <p:nvPr/>
        </p:nvPicPr>
        <p:blipFill>
          <a:blip r:embed="rId1"/>
          <a:srcRect l="3238" r="3238"/>
          <a:stretch>
            <a:fillRect/>
          </a:stretch>
        </p:blipFill>
        <p:spPr>
          <a:xfrm>
            <a:off x="7269480" y="1371600"/>
            <a:ext cx="4370832" cy="22128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269480" y="3657600"/>
            <a:ext cx="43708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他管的就是这一整张图</a:t>
            </a:r>
            <a:endParaRPr sz="10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269480" y="4078224"/>
            <a:ext cx="4370832" cy="2139696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69480" y="4078224"/>
            <a:ext cx="4370832" cy="4000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4224528"/>
            <a:ext cx="3913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6DBF6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人格配置 · persona.json</a:t>
            </a:r>
            <a:endParaRPr sz="1250" b="1">
              <a:solidFill>
                <a:srgbClr val="6DBF67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07224" y="4626864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工具集</a:t>
            </a:r>
            <a:endParaRPr sz="9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83880" y="4626864"/>
            <a:ext cx="32186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findPath · nearestWalkable · focus</a:t>
            </a:r>
            <a:endParaRPr sz="100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507224" y="5029200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移动性</a:t>
            </a:r>
            <a:endParaRPr sz="9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183880" y="5029200"/>
            <a:ext cx="32186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跟随玩家；不带路时停在自己的点位</a:t>
            </a:r>
            <a:endParaRPr sz="100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507224" y="5431536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人格</a:t>
            </a:r>
            <a:endParaRPr sz="9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183880" y="5431536"/>
            <a:ext cx="32186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话少、只讲方位，不寒暄</a:t>
            </a:r>
            <a:endParaRPr sz="100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507224" y="5833872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口头禅</a:t>
            </a:r>
            <a:endParaRPr sz="9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183880" y="5833872"/>
            <a:ext cx="32186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"往前两个路口，左转就是。"</a:t>
            </a:r>
            <a:endParaRPr sz="100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6928" y="6345936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归属：组长（地图底座 + 向导智能体）　｜　类型：功能型　｜　不响应呼唤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11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6" cy="4500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6DBF6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产品功能 ② ／ 校园信息库</a:t>
            </a:r>
            <a:endParaRPr sz="1150" b="1">
              <a:solidFill>
                <a:srgbClr val="6DBF67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学长 · 甲</a:t>
            </a:r>
            <a:endParaRPr sz="27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0350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03 / 12</a:t>
            </a:r>
            <a:endParaRPr sz="12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63825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2C14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他不是功能菜单，他是会说人话的校内搜索引擎</a:t>
            </a:r>
            <a:endParaRPr sz="1700" b="1">
              <a:solidFill>
                <a:srgbClr val="F2C14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883664"/>
            <a:ext cx="45000" cy="713232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83664"/>
            <a:ext cx="61081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问答：答案是一条路径，不是一坨文本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384" y="2157984"/>
            <a:ext cx="61447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校园图谱约 180 节点 / 10 类边 / 约 200 条人工三元组，两跳 BFS；可解释，幻觉无处可藏。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2743200"/>
            <a:ext cx="45000" cy="7132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743200"/>
            <a:ext cx="61081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图谱管"正确"，记忆管"磨损"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6384" y="3017520"/>
            <a:ext cx="61447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同一个问题今天问和下周问，答案里的细节可能少了一块——那是被人传走了。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6928" y="3602736"/>
            <a:ext cx="45000" cy="713232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602736"/>
            <a:ext cx="61081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有认知边界，会说"我不知道"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6384" y="3877056"/>
            <a:ext cx="61447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knows 五类事；图上有、他没记住的，他直说不知道，而不是编一个。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66928" y="4462272"/>
            <a:ext cx="45000" cy="713232"/>
          </a:xfrm>
          <a:prstGeom prst="rect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462272"/>
            <a:ext cx="61081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会自己走动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6384" y="4736592"/>
            <a:ext cx="61447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教学楼 ↔ 图书馆两点往返。找他要自己走过去——他不响应呼唤。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6928" y="5431536"/>
            <a:ext cx="6382512" cy="804672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431536"/>
            <a:ext cx="45000" cy="804672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5541264"/>
            <a:ext cx="5961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knows：选课 / 绩点 / 社团 / 考研 / 转专业　｜　refuses：失物招领 / 食堂评分</a:t>
            </a:r>
            <a:endParaRPr sz="11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6384" y="5852160"/>
            <a:ext cx="59618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「这个我真不知道，你去问问保卫处吧。」—— refuses 与 unknown_line 最值钱</a:t>
            </a:r>
            <a:endParaRPr sz="10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231480" y="1333600"/>
            <a:ext cx="4446832" cy="2288848"/>
          </a:xfrm>
          <a:prstGeom prst="rect">
            <a:avLst/>
          </a:prstGeom>
          <a:solidFill>
            <a:srgbClr val="2C3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_library.png"/>
          <p:cNvPicPr>
            <a:picLocks noChangeAspect="1"/>
          </p:cNvPicPr>
          <p:nvPr/>
        </p:nvPicPr>
        <p:blipFill>
          <a:blip r:embed="rId1"/>
          <a:srcRect t="4998" b="4998"/>
          <a:stretch>
            <a:fillRect/>
          </a:stretch>
        </p:blipFill>
        <p:spPr>
          <a:xfrm>
            <a:off x="7269480" y="1371600"/>
            <a:ext cx="4370832" cy="22128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269480" y="3657600"/>
            <a:ext cx="43708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图书馆 —— 他常在这儿</a:t>
            </a:r>
            <a:endParaRPr sz="10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269480" y="4078224"/>
            <a:ext cx="4370832" cy="2139696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69480" y="4078224"/>
            <a:ext cx="4370832" cy="4000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4224528"/>
            <a:ext cx="3913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6DBF6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人格配置 · persona.json</a:t>
            </a:r>
            <a:endParaRPr sz="1250" b="1">
              <a:solidFill>
                <a:srgbClr val="6DBF67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07224" y="4626864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工具集</a:t>
            </a:r>
            <a:endParaRPr sz="9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83880" y="4626864"/>
            <a:ext cx="32186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searchKnowledge · askLLM</a:t>
            </a:r>
            <a:endParaRPr sz="100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507224" y="5029200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移动性</a:t>
            </a:r>
            <a:endParaRPr sz="9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183880" y="5029200"/>
            <a:ext cx="32186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shuttle｜教学楼 ↔ 图书馆</a:t>
            </a:r>
            <a:endParaRPr sz="100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507224" y="5431536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人格</a:t>
            </a:r>
            <a:endParaRPr sz="9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183880" y="5431536"/>
            <a:ext cx="32186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热心但爱吐槽的大三学长，爱用短句</a:t>
            </a:r>
            <a:endParaRPr sz="100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507224" y="5833872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口头禅</a:t>
            </a:r>
            <a:endParaRPr sz="9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183880" y="5833872"/>
            <a:ext cx="32186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"哟，新来的？有事儿问我。"</a:t>
            </a:r>
            <a:endParaRPr sz="100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6928" y="6345936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归属：1 号（校园信息库）＋ 2 号（AI 问答引擎）　｜　类型：社交型　｜　不响应呼唤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11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6" cy="4500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6DBF6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产品功能 ③ ／ 众包口碑</a:t>
            </a:r>
            <a:endParaRPr sz="1150" b="1">
              <a:solidFill>
                <a:srgbClr val="6DBF67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阿姨 · 丙</a:t>
            </a:r>
            <a:endParaRPr sz="27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0350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04 / 12</a:t>
            </a:r>
            <a:endParaRPr sz="12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63825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2C14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她不管信息，她管"这家到底好不好吃"</a:t>
            </a:r>
            <a:endParaRPr sz="1700" b="1">
              <a:solidFill>
                <a:srgbClr val="F2C14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883664"/>
            <a:ext cx="45000" cy="7132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83664"/>
            <a:ext cx="61081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口碑：玩家在对话里打分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384" y="2157984"/>
            <a:ext cx="61447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不另做打分 UI —— 你夸一句、骂一句，那就是一次评价。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2743200"/>
            <a:ext cx="45000" cy="713232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743200"/>
            <a:ext cx="61081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老评价会自己变轻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6384" y="3017520"/>
            <a:ext cx="61447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时间衰减 w = 0.5 ^ (天数 / 30)，半衰期 30 天：上个月的好评压不过昨天的差评。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6928" y="3602736"/>
            <a:ext cx="45000" cy="713232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602736"/>
            <a:ext cx="61081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只说自己那一摊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6384" y="3877056"/>
            <a:ext cx="61447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问她图书馆几点关门，她会说"我只管窗口这一块"——不装懂，也不越界。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66928" y="4462272"/>
            <a:ext cx="45000" cy="713232"/>
          </a:xfrm>
          <a:prstGeom prst="rect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462272"/>
            <a:ext cx="61081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站在窗口后面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6384" y="4736592"/>
            <a:ext cx="61447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static：只在窗口之间挪动，找她要挑饭点去。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6928" y="5431536"/>
            <a:ext cx="6382512" cy="804672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431536"/>
            <a:ext cx="45000" cy="80467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5541264"/>
            <a:ext cx="5961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knows：食堂窗口 / 菜品 / 出餐时间　｜　refuses：课程、失物、图书馆</a:t>
            </a:r>
            <a:endParaRPr sz="11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6384" y="5852160"/>
            <a:ext cx="59618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她把"不知道"说成一句实话，而不是绕开——这是三个社交型智能体共用的拒答口径。</a:t>
            </a:r>
            <a:endParaRPr sz="10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231480" y="1333600"/>
            <a:ext cx="4446832" cy="2288848"/>
          </a:xfrm>
          <a:prstGeom prst="rect">
            <a:avLst/>
          </a:prstGeom>
          <a:solidFill>
            <a:srgbClr val="2C3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_canteen.png"/>
          <p:cNvPicPr>
            <a:picLocks noChangeAspect="1"/>
          </p:cNvPicPr>
          <p:nvPr/>
        </p:nvPicPr>
        <p:blipFill>
          <a:blip r:embed="rId1"/>
          <a:srcRect t="4998" b="4998"/>
          <a:stretch>
            <a:fillRect/>
          </a:stretch>
        </p:blipFill>
        <p:spPr>
          <a:xfrm>
            <a:off x="7269480" y="1371600"/>
            <a:ext cx="4370832" cy="22128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269480" y="3657600"/>
            <a:ext cx="43708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食堂窗口 —— 她就站在这儿</a:t>
            </a:r>
            <a:endParaRPr sz="10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269480" y="4078224"/>
            <a:ext cx="4370832" cy="2139696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69480" y="4078224"/>
            <a:ext cx="4370832" cy="4000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4224528"/>
            <a:ext cx="3913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2C14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人格配置 · persona.json</a:t>
            </a:r>
            <a:endParaRPr sz="1250" b="1">
              <a:solidFill>
                <a:srgbClr val="F2C14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07224" y="4626864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工具集</a:t>
            </a:r>
            <a:endParaRPr sz="9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83880" y="4626864"/>
            <a:ext cx="32186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getRating · listWindows</a:t>
            </a:r>
            <a:endParaRPr sz="100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507224" y="5029200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移动性</a:t>
            </a:r>
            <a:endParaRPr sz="9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183880" y="5029200"/>
            <a:ext cx="32186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static｜只在窗口之间挪动</a:t>
            </a:r>
            <a:endParaRPr sz="100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507224" y="5431536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人格</a:t>
            </a:r>
            <a:endParaRPr sz="9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183880" y="5431536"/>
            <a:ext cx="32186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爽快、护犊子，说话直</a:t>
            </a:r>
            <a:endParaRPr sz="100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507224" y="5833872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口头禅</a:t>
            </a:r>
            <a:endParaRPr sz="9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183880" y="5833872"/>
            <a:ext cx="32186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"我家这窗口，你尝尝就知道了。"</a:t>
            </a:r>
            <a:endParaRPr sz="100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6928" y="6345936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归属：3 号（众包口碑）　｜　类型：社交型　｜　不响应呼唤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11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6" cy="4500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6DBF6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产品功能 ④ ／ 失物招领 + 报修</a:t>
            </a:r>
            <a:endParaRPr sz="1150" b="1">
              <a:solidFill>
                <a:srgbClr val="6DBF67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保安 · 老丁</a:t>
            </a:r>
            <a:endParaRPr sz="27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0350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05 / 12</a:t>
            </a:r>
            <a:endParaRPr sz="12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63825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F2C14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他是全图唯一叫得动的人</a:t>
            </a:r>
            <a:endParaRPr sz="1700" b="1">
              <a:solidFill>
                <a:srgbClr val="F2C14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883664"/>
            <a:ext cx="45000" cy="713232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83664"/>
            <a:ext cx="61081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失物招领：四维相似度打分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384" y="2157984"/>
            <a:ext cx="61447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类别 / 地点 / 时间 / 描述四个维度；以图搜物命中时，直接替代描述维。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2743200"/>
            <a:ext cx="45000" cy="713232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743200"/>
            <a:ext cx="61081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报修：写成工单进公共层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6384" y="3017520"/>
            <a:ext cx="61447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别人能追问进度——这不是私聊，是一件挂在世界上的事。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6928" y="3602736"/>
            <a:ext cx="45000" cy="7132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602736"/>
            <a:ext cx="61081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被呼唤：他自己走过来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6384" y="3877056"/>
            <a:ext cx="61447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点一下"呼叫"，他沿路网绕开建筑走过来，头顶冒一个「！」，比平时快。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66928" y="4462272"/>
            <a:ext cx="45000" cy="713232"/>
          </a:xfrm>
          <a:prstGeom prst="rect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462272"/>
            <a:ext cx="61081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应答有时段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6384" y="4736592"/>
            <a:ext cx="614476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只在 08:00—22:00 应答，其余时间回一句"忙着呢"。途中那段等待不是延迟，是仪式感。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6928" y="5431536"/>
            <a:ext cx="6382512" cy="804672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431536"/>
            <a:ext cx="45000" cy="804672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5541264"/>
            <a:ext cx="5961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knows：失物招领 / 报修流程 / 校园安全　｜　refuses：选课、绩点、食堂评分</a:t>
            </a:r>
            <a:endParaRPr sz="11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6384" y="5852160"/>
            <a:ext cx="59618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「这个不归我们管，你去找教务处。」—— 公文腔，只讲流程，不寒暄</a:t>
            </a:r>
            <a:endParaRPr sz="10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231480" y="1333600"/>
            <a:ext cx="4446832" cy="2288848"/>
          </a:xfrm>
          <a:prstGeom prst="rect">
            <a:avLst/>
          </a:prstGeom>
          <a:solidFill>
            <a:srgbClr val="2C3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_gate.png"/>
          <p:cNvPicPr>
            <a:picLocks noChangeAspect="1"/>
          </p:cNvPicPr>
          <p:nvPr/>
        </p:nvPicPr>
        <p:blipFill>
          <a:blip r:embed="rId1"/>
          <a:srcRect t="6524" b="6524"/>
          <a:stretch>
            <a:fillRect/>
          </a:stretch>
        </p:blipFill>
        <p:spPr>
          <a:xfrm>
            <a:off x="7269480" y="1371600"/>
            <a:ext cx="4370832" cy="22128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269480" y="3657600"/>
            <a:ext cx="43708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南门 —— 他的巡逻路线起点</a:t>
            </a:r>
            <a:endParaRPr sz="10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269480" y="4078224"/>
            <a:ext cx="4370832" cy="2139696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69480" y="4078224"/>
            <a:ext cx="4370832" cy="40000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4224528"/>
            <a:ext cx="3913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4EC9B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人格配置 · persona.json</a:t>
            </a:r>
            <a:endParaRPr sz="1250" b="1">
              <a:solidFill>
                <a:srgbClr val="4EC9B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07224" y="4626864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工具集</a:t>
            </a:r>
            <a:endParaRPr sz="9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83880" y="4626864"/>
            <a:ext cx="32186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matchLostItem · matchByImage · reportRepair</a:t>
            </a:r>
            <a:endParaRPr sz="100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507224" y="5029200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移动性</a:t>
            </a:r>
            <a:endParaRPr sz="9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183880" y="5029200"/>
            <a:ext cx="32186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patrol｜全域多点巡逻，可被呼叫</a:t>
            </a:r>
            <a:endParaRPr sz="100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507224" y="5431536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人格</a:t>
            </a:r>
            <a:endParaRPr sz="9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183880" y="5431536"/>
            <a:ext cx="32186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公文腔，只讲流程，不寒暄</a:t>
            </a:r>
            <a:endParaRPr sz="100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507224" y="5833872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口头禅</a:t>
            </a:r>
            <a:endParaRPr sz="9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183880" y="5833872"/>
            <a:ext cx="32186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"来了来了，什么事？"</a:t>
            </a:r>
            <a:endParaRPr sz="100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6928" y="6345936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归属：4 号（失物招领 + 云端 CV）　｜　类型：社交型　｜　全图唯一响应呼唤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11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6" cy="4500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6DBF6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玩法 ①</a:t>
            </a:r>
            <a:endParaRPr sz="1150" b="1">
              <a:solidFill>
                <a:srgbClr val="6DBF67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六个玩法，全部从已有能力里长出来</a:t>
            </a:r>
            <a:endParaRPr sz="27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0350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06 / 12</a:t>
            </a:r>
            <a:endParaRPr sz="12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1609344"/>
            <a:ext cx="3566160" cy="1536192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09344"/>
            <a:ext cx="3566160" cy="4000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81051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6DBF6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此刻</a:t>
            </a:r>
            <a:endParaRPr sz="1650" b="1">
              <a:solidFill>
                <a:srgbClr val="6DBF67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21945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你在哪，地图上就在哪</a:t>
            </a:r>
            <a:endParaRPr sz="11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4672" y="27432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↳ 真实坐标</a:t>
            </a:r>
            <a:endParaRPr sz="10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15967" y="1609344"/>
            <a:ext cx="3566160" cy="1536192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7" y="1609344"/>
            <a:ext cx="3566160" cy="40000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1" y="181051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4EC9B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传说</a:t>
            </a:r>
            <a:endParaRPr sz="1650" b="1">
              <a:solidFill>
                <a:srgbClr val="4EC9B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53711" y="21945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散在三个人脑子里的校园野史</a:t>
            </a:r>
            <a:endParaRPr sz="11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53711" y="27432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↳ 多智能体记忆</a:t>
            </a:r>
            <a:endParaRPr sz="10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65006" y="1609344"/>
            <a:ext cx="3566160" cy="1536192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6" y="1609344"/>
            <a:ext cx="3566160" cy="4000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0" y="181051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F2C14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今天</a:t>
            </a:r>
            <a:endParaRPr sz="1650" b="1">
              <a:solidFill>
                <a:srgbClr val="F2C14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02750" y="219456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真实世界的一次性事件</a:t>
            </a:r>
            <a:endParaRPr sz="11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02750" y="27432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↳ 真实时间</a:t>
            </a:r>
            <a:endParaRPr sz="10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66928" y="4060698"/>
            <a:ext cx="3566160" cy="1536192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060698"/>
            <a:ext cx="3566160" cy="40000"/>
          </a:xfrm>
          <a:prstGeom prst="rect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26186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E06C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到此一游</a:t>
            </a:r>
            <a:endParaRPr sz="1650" b="1">
              <a:solidFill>
                <a:srgbClr val="E06C5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4672" y="4645914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让已经画好的地标被看见</a:t>
            </a:r>
            <a:endParaRPr sz="11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04672" y="519455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↳ 一张精细的地图</a:t>
            </a:r>
            <a:endParaRPr sz="10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15967" y="4060698"/>
            <a:ext cx="3566160" cy="1536192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15967" y="4060698"/>
            <a:ext cx="3566160" cy="4000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1" y="426186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6DBF6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遗留物</a:t>
            </a:r>
            <a:endParaRPr sz="1650" b="1">
              <a:solidFill>
                <a:srgbClr val="6DBF67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53711" y="4645914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单机模式里的漂流瓶</a:t>
            </a:r>
            <a:endParaRPr sz="11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53711" y="519455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↳ 50 人共享的公共层</a:t>
            </a:r>
            <a:endParaRPr sz="10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065006" y="4060698"/>
            <a:ext cx="3566160" cy="1536192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65006" y="4060698"/>
            <a:ext cx="3566160" cy="40000"/>
          </a:xfrm>
          <a:prstGeom prst="rect">
            <a:avLst/>
          </a:prstGeom>
          <a:solidFill>
            <a:srgbClr val="A88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0" y="426186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>
                <a:solidFill>
                  <a:srgbClr val="A88CD8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校园猫谱</a:t>
            </a:r>
            <a:endParaRPr sz="1650" b="1">
              <a:solidFill>
                <a:srgbClr val="A88CD8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02750" y="4645914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每只猫都单独记得你</a:t>
            </a:r>
            <a:endParaRPr sz="11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02750" y="519455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↳ 多智能体记忆 + 时间</a:t>
            </a:r>
            <a:endParaRPr sz="10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11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6" cy="4500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6DBF6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玩法 ②</a:t>
            </a:r>
            <a:endParaRPr sz="1150" b="1">
              <a:solidFill>
                <a:srgbClr val="6DBF67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最值钱的三个</a:t>
            </a:r>
            <a:endParaRPr sz="27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0350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07 / 12</a:t>
            </a:r>
            <a:endParaRPr sz="12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1609344"/>
            <a:ext cx="3566160" cy="3913632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09344"/>
            <a:ext cx="3566160" cy="45000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8366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4EC9B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传说</a:t>
            </a:r>
            <a:endParaRPr sz="1800" b="1">
              <a:solidFill>
                <a:srgbClr val="4EC9B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2C14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任务栏式解谜</a:t>
            </a:r>
            <a:endParaRPr sz="1200" b="0">
              <a:solidFill>
                <a:srgbClr val="F2C14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2960" y="2633472"/>
            <a:ext cx="3054096" cy="12000"/>
          </a:xfrm>
          <a:prstGeom prst="rect">
            <a:avLst/>
          </a:prstGeom>
          <a:solidFill>
            <a:srgbClr val="2C3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889504"/>
            <a:ext cx="82296" cy="82296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834640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图鉴里单开一栏，只给问号条目，不给答案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22960" y="3547872"/>
            <a:ext cx="82296" cy="82296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493008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玩家自己找 NPC 问、翻地图，然后把说法打进去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2960" y="4206240"/>
            <a:ext cx="82296" cy="82296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151376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按"要素命中"判分（3~5 个关键要素），语义相同即点亮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2960" y="4864608"/>
            <a:ext cx="82296" cy="82296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809744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三个人各点亮一次，拼合出完整版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15967" y="1609344"/>
            <a:ext cx="3566160" cy="3913632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15967" y="1609344"/>
            <a:ext cx="3566160" cy="4500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1999" y="188366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6DBF6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遗留物</a:t>
            </a:r>
            <a:endParaRPr sz="1800" b="1">
              <a:solidFill>
                <a:srgbClr val="6DBF67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1999" y="22860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2C14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单机模式的漂流瓶</a:t>
            </a:r>
            <a:endParaRPr sz="1200" b="0">
              <a:solidFill>
                <a:srgbClr val="F2C14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1999" y="2633472"/>
            <a:ext cx="3054096" cy="12000"/>
          </a:xfrm>
          <a:prstGeom prst="rect">
            <a:avLst/>
          </a:prstGeom>
          <a:solidFill>
            <a:srgbClr val="2C3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1999" y="2889504"/>
            <a:ext cx="82296" cy="82296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7" y="2834640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A 在校园某处埋下一个 → 写进公共层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71999" y="3547872"/>
            <a:ext cx="82296" cy="82296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73167" y="3493008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B 闲逛到那儿时发现它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571999" y="4206240"/>
            <a:ext cx="82296" cy="82296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7" y="4151376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异步、匿名，零实时服务依赖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71999" y="4864608"/>
            <a:ext cx="82296" cy="82296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3167" y="4809744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别人闲逛时能捡到你的痕迹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065006" y="1609344"/>
            <a:ext cx="3566160" cy="3913632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65006" y="1609344"/>
            <a:ext cx="3566160" cy="4500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38" y="188366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2C14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校园猫谱</a:t>
            </a:r>
            <a:endParaRPr sz="1800" b="1">
              <a:solidFill>
                <a:srgbClr val="F2C14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21038" y="22860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2C14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唯一要新美术的玩法</a:t>
            </a:r>
            <a:endParaRPr sz="1200" b="0">
              <a:solidFill>
                <a:srgbClr val="F2C14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321038" y="2633472"/>
            <a:ext cx="3054096" cy="12000"/>
          </a:xfrm>
          <a:prstGeom prst="rect">
            <a:avLst/>
          </a:prstGeom>
          <a:solidFill>
            <a:srgbClr val="2C3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21038" y="2889504"/>
            <a:ext cx="82296" cy="8229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22206" y="2834640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校园里有好几只猫，每只单独记得你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321038" y="3547872"/>
            <a:ext cx="82296" cy="8229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22206" y="3493008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六档行为谱：陌生 / 眼熟 / 熟 / 亲近 / 很亲 / 最亲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321038" y="4206240"/>
            <a:ext cx="82296" cy="8229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22206" y="4151376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掉档渐进不断崖 —— 猫不会饿死，只会疏远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321038" y="4864608"/>
            <a:ext cx="82296" cy="8229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22206" y="4809744"/>
            <a:ext cx="2880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不给玩家看数字：行为就是呈现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66928" y="5797296"/>
            <a:ext cx="11064240" cy="12000"/>
          </a:xfrm>
          <a:prstGeom prst="rect">
            <a:avLst/>
          </a:prstGeom>
          <a:solidFill>
            <a:srgbClr val="2C3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5961888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2C14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成本：六个玩法里，零新美术的五个；要新美术的只有「校园猫谱」一个 —— 情感强度也最高。</a:t>
            </a:r>
            <a:endParaRPr sz="1200" b="0">
              <a:solidFill>
                <a:srgbClr val="F2C14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11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6" cy="4500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6DBF6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创新 ① ／ 多智能体社交网络</a:t>
            </a:r>
            <a:endParaRPr sz="1150" b="1">
              <a:solidFill>
                <a:srgbClr val="6DBF67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信息是记忆的复制，而复制会走样</a:t>
            </a:r>
            <a:endParaRPr sz="27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0350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08 / 12</a:t>
            </a:r>
            <a:endParaRPr sz="12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3017520" cy="960120"/>
          </a:xfrm>
          <a:prstGeom prst="rect">
            <a:avLst/>
          </a:prstGeom>
          <a:solidFill>
            <a:srgbClr val="1A2027"/>
          </a:solidFill>
          <a:ln w="19050">
            <a:solidFill>
              <a:srgbClr val="6DBF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7510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6DBF6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甲 记得</a:t>
            </a:r>
            <a:endParaRPr sz="1600" b="1">
              <a:solidFill>
                <a:srgbClr val="6DBF67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0" y="1993392"/>
            <a:ext cx="658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→</a:t>
            </a:r>
            <a:endParaRPr sz="2000" b="1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15967" y="1700784"/>
            <a:ext cx="3017520" cy="960120"/>
          </a:xfrm>
          <a:prstGeom prst="rect">
            <a:avLst/>
          </a:prstGeom>
          <a:solidFill>
            <a:srgbClr val="1A2027"/>
          </a:solidFill>
          <a:ln w="1905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7" y="197510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F2C14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转述给 丙</a:t>
            </a:r>
            <a:endParaRPr sz="1600" b="1">
              <a:solidFill>
                <a:srgbClr val="F2C14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06639" y="1993392"/>
            <a:ext cx="6583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→</a:t>
            </a:r>
            <a:endParaRPr sz="2000" b="1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065006" y="1700784"/>
            <a:ext cx="3017520" cy="960120"/>
          </a:xfrm>
          <a:prstGeom prst="rect">
            <a:avLst/>
          </a:prstGeom>
          <a:solidFill>
            <a:srgbClr val="1A2027"/>
          </a:solidFill>
          <a:ln w="19050">
            <a:solidFill>
              <a:srgbClr val="E06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6" y="197510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E06C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丙 记成</a:t>
            </a:r>
            <a:endParaRPr sz="1600" b="1">
              <a:solidFill>
                <a:srgbClr val="E06C5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6928" y="2980944"/>
            <a:ext cx="45000" cy="64008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980944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每传一次，走样一次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6384" y="3255264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智能体之间靠"转述"传递信息，而转述本身就会丢细节、改口径。</a:t>
            </a:r>
            <a:endParaRPr sz="11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6928" y="3749040"/>
            <a:ext cx="45000" cy="640080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7490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"走样"不是 bug，是机制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6384" y="4023360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同一件事，三个人记的永远不一样 —— 这恰恰就是真实校园的样子。</a:t>
            </a:r>
            <a:endParaRPr sz="11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66928" y="4517136"/>
            <a:ext cx="45000" cy="64008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51713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记忆分两层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6384" y="4791456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公共层（谁都能查）与私密层（只有本人）。检索规则：公共 或 属于当前玩家。</a:t>
            </a:r>
            <a:endParaRPr sz="11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66928" y="5285232"/>
            <a:ext cx="45000" cy="640080"/>
          </a:xfrm>
          <a:prstGeom prst="rect">
            <a:avLst/>
          </a:prstGeom>
          <a:solidFill>
            <a:srgbClr val="A88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285232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交流不在地图上表演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6384" y="5559552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没有"两个人站在一起聊天"的动画；玩家感知到的是结果，不是过程。</a:t>
            </a:r>
            <a:endParaRPr sz="11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66928" y="605332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F2C14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三层约束保证它"真"又不失控：触发层（每天最多 6 次）· 生成层（两人各自只看得见自己的记忆）· 准入层（私密信息永不外传）。</a:t>
            </a:r>
            <a:endParaRPr sz="1150" b="0">
              <a:solidFill>
                <a:srgbClr val="F2C14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11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6" cy="4500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6DBF6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创新 ② ／ 主动性</a:t>
            </a:r>
            <a:endParaRPr sz="1150" b="1">
              <a:solidFill>
                <a:srgbClr val="6DBF67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不是等你问，是碰见你才说</a:t>
            </a:r>
            <a:endParaRPr sz="27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0350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09 / 12</a:t>
            </a:r>
            <a:endParaRPr sz="12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138988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2C14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问题：低 precision 的主动提醒，会让用户直接把功能关掉 —— 「何时帮助」比「如何帮助」更难。</a:t>
            </a:r>
            <a:endParaRPr sz="1400" b="1">
              <a:solidFill>
                <a:srgbClr val="F2C14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1956816"/>
            <a:ext cx="6720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三层解法：把"想说"关进笼子里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2359152"/>
            <a:ext cx="45000" cy="676656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59152"/>
            <a:ext cx="6446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主动预算</a:t>
            </a:r>
            <a:endParaRPr sz="145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6384" y="2633472"/>
            <a:ext cx="6446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每个智能体每天最多主动开口 1~2 次 —— 想说，也不能一直说。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6928" y="3182112"/>
            <a:ext cx="45000" cy="676656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182112"/>
            <a:ext cx="6446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冷却期</a:t>
            </a:r>
            <a:endParaRPr sz="145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6384" y="3456432"/>
            <a:ext cx="6446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同一条规则触发后进冷却（如 1 天），避免同一件事被反复念叨。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6928" y="4005072"/>
            <a:ext cx="45000" cy="676656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05072"/>
            <a:ext cx="6446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重要度分级</a:t>
            </a:r>
            <a:endParaRPr sz="145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6384" y="4279392"/>
            <a:ext cx="6446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多条命中时按 importance 排序，只发 top-1，其余转信箱。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6928" y="4956048"/>
            <a:ext cx="6720840" cy="932688"/>
          </a:xfrm>
          <a:prstGeom prst="rect">
            <a:avLst/>
          </a:prstGeom>
          <a:solidFill>
            <a:srgbClr val="1A2027"/>
          </a:solidFill>
          <a:ln w="15875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84064"/>
            <a:ext cx="620877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2C14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触发条件必须三者交叉才成立</a:t>
            </a:r>
            <a:endParaRPr sz="1250" b="1">
              <a:solidFill>
                <a:srgbClr val="F2C14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" y="5394960"/>
            <a:ext cx="620877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地图（你在哪、常去哪）× 时间（现在几点、周几）× 记忆（你跟我说过什么）—— 单独任何一维都不足以支撑一次提醒。</a:t>
            </a:r>
            <a:endParaRPr sz="10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71231" y="1956816"/>
            <a:ext cx="4059936" cy="1920240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1956816"/>
            <a:ext cx="4059936" cy="40000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8975" y="2103120"/>
            <a:ext cx="36027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4EC9B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物理载体：巡逻</a:t>
            </a:r>
            <a:endParaRPr sz="1450" b="1">
              <a:solidFill>
                <a:srgbClr val="4EC9B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08975" y="2468880"/>
            <a:ext cx="3602736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保安走到你附近才开口。</a:t>
            </a:r>
            <a:endParaRPr sz="11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「系统推送让人烦，路上碰见跟你说一句是社交。」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F2C14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⇒ 告警疲劳天然消失 —— 因为这不是推送，是偶遇。</a:t>
            </a:r>
            <a:endParaRPr sz="1150" b="0">
              <a:solidFill>
                <a:srgbClr val="F2C14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571231" y="4023360"/>
            <a:ext cx="4059936" cy="1865376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71231" y="4023360"/>
            <a:ext cx="4059936" cy="40000"/>
          </a:xfrm>
          <a:prstGeom prst="rect">
            <a:avLst/>
          </a:prstGeom>
          <a:solidFill>
            <a:srgbClr val="A88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08975" y="4169663"/>
            <a:ext cx="360273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A88CD8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跨人去重：已告知</a:t>
            </a:r>
            <a:endParaRPr sz="1450" b="1">
              <a:solidFill>
                <a:srgbClr val="A88CD8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08975" y="4535424"/>
            <a:ext cx="3602736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社交网络的「已告知」标记：学长告诉过阿姨的事，不会再有第二个人重复提醒你。</a:t>
            </a:r>
            <a:endParaRPr sz="11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—— 创新 ① 与创新 ② 在这里焊在一起。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参考工作：ProactiveAgent 的四指标 CD / MN / NR / FD、PASK 的 DD-MM-PAS 框架 —— 我们只做校园里真会发生的那几种。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11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6" cy="4500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6DBF6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创新 ③ ／ 世界层</a:t>
            </a:r>
            <a:endParaRPr sz="1150" b="1">
              <a:solidFill>
                <a:srgbClr val="6DBF67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一个考据级精细的世界，每一处都有真实坐标</a:t>
            </a:r>
            <a:endParaRPr sz="27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0350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10 / 12</a:t>
            </a:r>
            <a:endParaRPr sz="12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8928" y="1297024"/>
            <a:ext cx="6522520" cy="3139240"/>
          </a:xfrm>
          <a:prstGeom prst="rect">
            <a:avLst/>
          </a:prstGeom>
          <a:solidFill>
            <a:srgbClr val="2C3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orld_clean.png"/>
          <p:cNvPicPr>
            <a:picLocks noChangeAspect="1"/>
          </p:cNvPicPr>
          <p:nvPr/>
        </p:nvPicPr>
        <p:blipFill>
          <a:blip r:embed="rId1"/>
          <a:srcRect l="178" r="178"/>
          <a:stretch>
            <a:fillRect/>
          </a:stretch>
        </p:blipFill>
        <p:spPr>
          <a:xfrm>
            <a:off x="566928" y="1335024"/>
            <a:ext cx="6446520" cy="3063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4443984"/>
            <a:ext cx="6446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整个校园 · 5208 × 2929 世界像素 · 一格 32px</a:t>
            </a:r>
            <a:endParaRPr sz="10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28928" y="4753456"/>
            <a:ext cx="2151688" cy="1264720"/>
          </a:xfrm>
          <a:prstGeom prst="rect">
            <a:avLst/>
          </a:prstGeom>
          <a:solidFill>
            <a:srgbClr val="2C3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_siyuan.png"/>
          <p:cNvPicPr>
            <a:picLocks noChangeAspect="1"/>
          </p:cNvPicPr>
          <p:nvPr/>
        </p:nvPicPr>
        <p:blipFill>
          <a:blip r:embed="rId2"/>
          <a:srcRect l="889" r="889"/>
          <a:stretch>
            <a:fillRect/>
          </a:stretch>
        </p:blipFill>
        <p:spPr>
          <a:xfrm>
            <a:off x="566928" y="4791456"/>
            <a:ext cx="2075688" cy="1188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6016752"/>
            <a:ext cx="20756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DBF6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思源楼</a:t>
            </a:r>
            <a:endParaRPr sz="1300" b="1">
              <a:solidFill>
                <a:srgbClr val="6DBF67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" y="6272784"/>
            <a:ext cx="207568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按实拍重绘 · 攒尖顶 · 竖玻璃槽</a:t>
            </a:r>
            <a:endParaRPr sz="9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14344" y="4753456"/>
            <a:ext cx="2151688" cy="1264720"/>
          </a:xfrm>
          <a:prstGeom prst="rect">
            <a:avLst/>
          </a:prstGeom>
          <a:solidFill>
            <a:srgbClr val="2C3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_minghu.png"/>
          <p:cNvPicPr>
            <a:picLocks noChangeAspect="1"/>
          </p:cNvPicPr>
          <p:nvPr/>
        </p:nvPicPr>
        <p:blipFill>
          <a:blip r:embed="rId3"/>
          <a:srcRect t="821" b="821"/>
          <a:stretch>
            <a:fillRect/>
          </a:stretch>
        </p:blipFill>
        <p:spPr>
          <a:xfrm>
            <a:off x="2752344" y="4791456"/>
            <a:ext cx="2075688" cy="1188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52344" y="6016752"/>
            <a:ext cx="20756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DBF6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明湖</a:t>
            </a:r>
            <a:endParaRPr sz="1300" b="1">
              <a:solidFill>
                <a:srgbClr val="6DBF67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52344" y="6272784"/>
            <a:ext cx="207568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石碑 · 湖心岛小亭 · 水中石塔</a:t>
            </a:r>
            <a:endParaRPr sz="9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899760" y="4753456"/>
            <a:ext cx="2151688" cy="1264720"/>
          </a:xfrm>
          <a:prstGeom prst="rect">
            <a:avLst/>
          </a:prstGeom>
          <a:solidFill>
            <a:srgbClr val="2C3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_gate.png"/>
          <p:cNvPicPr>
            <a:picLocks noChangeAspect="1"/>
          </p:cNvPicPr>
          <p:nvPr/>
        </p:nvPicPr>
        <p:blipFill>
          <a:blip r:embed="rId4"/>
          <a:srcRect t="821" b="821"/>
          <a:stretch>
            <a:fillRect/>
          </a:stretch>
        </p:blipFill>
        <p:spPr>
          <a:xfrm>
            <a:off x="4937760" y="4791456"/>
            <a:ext cx="2075688" cy="1188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37760" y="6016752"/>
            <a:ext cx="20756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6DBF6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南门</a:t>
            </a:r>
            <a:endParaRPr sz="1300" b="1">
              <a:solidFill>
                <a:srgbClr val="6DBF67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37760" y="6272784"/>
            <a:ext cx="207568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红拱 · 毛笔字点阵 · 校名石</a:t>
            </a:r>
            <a:endParaRPr sz="9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269480" y="1335024"/>
            <a:ext cx="4370832" cy="786384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9480" y="1335024"/>
            <a:ext cx="40000" cy="786384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88936" y="1417320"/>
            <a:ext cx="39684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5208 × 2929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88936" y="1746504"/>
            <a:ext cx="39684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世界像素，一格 32px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269480" y="2194560"/>
            <a:ext cx="4370832" cy="786384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9480" y="2194560"/>
            <a:ext cx="40000" cy="786384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88936" y="2276856"/>
            <a:ext cx="39684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13.33333 × 7.5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88936" y="2606040"/>
            <a:ext cx="39684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与世界画布同源（英寸）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269480" y="3054096"/>
            <a:ext cx="4370832" cy="786384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69480" y="3054096"/>
            <a:ext cx="40000" cy="786384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88936" y="3136392"/>
            <a:ext cx="39684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29 款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488936" y="3465576"/>
            <a:ext cx="39684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屋名标牌烘焙进精灵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269480" y="3913632"/>
            <a:ext cx="4370832" cy="786384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69480" y="3913632"/>
            <a:ext cx="40000" cy="786384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8936" y="3995928"/>
            <a:ext cx="39684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真实坐标映射</a:t>
            </a:r>
            <a:endParaRPr sz="15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488936" y="4325112"/>
            <a:ext cx="39684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你在哪，地图上就在哪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269480" y="4956048"/>
            <a:ext cx="4370832" cy="1719072"/>
          </a:xfrm>
          <a:prstGeom prst="rect">
            <a:avLst/>
          </a:prstGeom>
          <a:solidFill>
            <a:srgbClr val="1A2027"/>
          </a:solidFill>
          <a:ln w="15875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224" y="5102352"/>
            <a:ext cx="38953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2C14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地图不是背景板 —— 它是坐标系本身</a:t>
            </a:r>
            <a:endParaRPr sz="1300" b="1">
              <a:solidFill>
                <a:srgbClr val="F2C14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507224" y="5449824"/>
            <a:ext cx="38953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社交模式下，玩家在现实里走到哪，像素里的他就站在哪。</a:t>
            </a:r>
            <a:endParaRPr sz="10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地标也不是背景 —— 每一处都是可以打卡的坐标点。</a:t>
            </a:r>
            <a:endParaRPr sz="10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坐标只存一份：图谱用 ref 指回 campus.json</a:t>
            </a:r>
            <a:endParaRPr sz="10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11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6" cy="4500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108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6DBF6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创新 ④ ／ 附加功能</a:t>
            </a:r>
            <a:endParaRPr sz="1150" b="1">
              <a:solidFill>
                <a:srgbClr val="6DBF67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真实坐标映射：两种模式，共享同一套世界</a:t>
            </a:r>
            <a:endParaRPr sz="27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0" y="60350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11 / 12</a:t>
            </a:r>
            <a:endParaRPr sz="12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1609344"/>
            <a:ext cx="5440680" cy="3127248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09344"/>
            <a:ext cx="5440680" cy="4500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83664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6DBF67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单机模式</a:t>
            </a:r>
            <a:endParaRPr sz="1900" b="1">
              <a:solidFill>
                <a:srgbClr val="6DBF67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77824" y="2496312"/>
            <a:ext cx="91440" cy="9144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3230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50 个独立会话，互不干扰</a:t>
            </a:r>
            <a:endParaRPr sz="12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77824" y="3026664"/>
            <a:ext cx="91440" cy="9144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96265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看不到真人 —— 但看得到痕迹</a:t>
            </a:r>
            <a:endParaRPr sz="12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7824" y="3557016"/>
            <a:ext cx="91440" cy="9144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49300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异步、匿名，不依赖实时服务</a:t>
            </a:r>
            <a:endParaRPr sz="12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77824" y="4087368"/>
            <a:ext cx="91440" cy="9144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0233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离线也能玩，是默认状态</a:t>
            </a:r>
            <a:endParaRPr sz="12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54496" y="1609344"/>
            <a:ext cx="5440680" cy="3127248"/>
          </a:xfrm>
          <a:prstGeom prst="rect">
            <a:avLst/>
          </a:prstGeom>
          <a:solidFill>
            <a:srgbClr val="1A2027"/>
          </a:solidFill>
          <a:ln w="12700">
            <a:solidFill>
              <a:srgbClr val="2C35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4496" y="1609344"/>
            <a:ext cx="5440680" cy="4500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1883664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F2C14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社交模式</a:t>
            </a:r>
            <a:endParaRPr sz="1900" b="1">
              <a:solidFill>
                <a:srgbClr val="F2C14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565392" y="2496312"/>
            <a:ext cx="91440" cy="9144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243230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真实坐标映射到像素世界</a:t>
            </a:r>
            <a:endParaRPr sz="12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565392" y="3026664"/>
            <a:ext cx="91440" cy="9144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296265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直接看到真人玩家走动</a:t>
            </a:r>
            <a:endParaRPr sz="12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565392" y="3557016"/>
            <a:ext cx="91440" cy="9144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349300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可以当面打招呼、一起做任务</a:t>
            </a:r>
            <a:endParaRPr sz="12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65392" y="4087368"/>
            <a:ext cx="91440" cy="9144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84848" y="40233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依赖位置服务，可随时关闭</a:t>
            </a:r>
            <a:endParaRPr sz="12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66928" y="4992624"/>
            <a:ext cx="11064240" cy="914400"/>
          </a:xfrm>
          <a:prstGeom prst="rect">
            <a:avLst/>
          </a:prstGeom>
          <a:solidFill>
            <a:srgbClr val="1A2027"/>
          </a:solidFill>
          <a:ln w="15875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157216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2C14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单机模式不是"没有社交"—— 它本来就共享三样东西：</a:t>
            </a:r>
            <a:endParaRPr sz="1300" b="1">
              <a:solidFill>
                <a:srgbClr val="F2C14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1248" y="54864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世界状态　　智能体记忆的公共层　　异步痕迹（没有实时同步、没有位置广播、没有 WebSocket）</a:t>
            </a:r>
            <a:endParaRPr sz="115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6928" y="6089904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2C14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叠加只需两个数：每米 9 个世界像素（已由思源楼标尺唯一确定）· 两个校门即可精确叠合（第三个用来验证）· 真实正北转到地图上方。</a:t>
            </a:r>
            <a:endParaRPr sz="1100" b="0">
              <a:solidFill>
                <a:srgbClr val="F2C14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11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38000" y="-38000"/>
            <a:ext cx="12267996" cy="3002080"/>
          </a:xfrm>
          <a:prstGeom prst="rect">
            <a:avLst/>
          </a:prstGeom>
          <a:solidFill>
            <a:srgbClr val="2C3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_minghu.png"/>
          <p:cNvPicPr>
            <a:picLocks noChangeAspect="1"/>
          </p:cNvPicPr>
          <p:nvPr/>
        </p:nvPicPr>
        <p:blipFill>
          <a:blip r:embed="rId1"/>
          <a:srcRect t="29390" b="29390"/>
          <a:stretch>
            <a:fillRect/>
          </a:stretch>
        </p:blipFill>
        <p:spPr>
          <a:xfrm>
            <a:off x="0" y="0"/>
            <a:ext cx="12191996" cy="2926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926080"/>
            <a:ext cx="12191996" cy="4500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01568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它不是一个校园信息 App</a:t>
            </a:r>
            <a:endParaRPr sz="22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3913632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是一个记得你的校园。</a:t>
            </a:r>
            <a:endParaRPr sz="3000" b="1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6384" y="5016048"/>
            <a:ext cx="91440" cy="91440"/>
          </a:xfrm>
          <a:prstGeom prst="rect">
            <a:avLst/>
          </a:prstGeom>
          <a:solidFill>
            <a:srgbClr val="6DB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5604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世界是考据级的 —— 每一处都有真实坐标</a:t>
            </a:r>
            <a:endParaRPr sz="12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55664" y="5016048"/>
            <a:ext cx="91440" cy="9144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95604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人是会磨损的 —— 记忆每传一次就变一次</a:t>
            </a:r>
            <a:endParaRPr sz="12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6384" y="5436672"/>
            <a:ext cx="91440" cy="91440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7667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玩法是长出来的 —— 不是贴上去的</a:t>
            </a:r>
            <a:endParaRPr sz="12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55664" y="5436672"/>
            <a:ext cx="91440" cy="91440"/>
          </a:xfrm>
          <a:prstGeom prst="rect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537667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9E7E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牵挂是轻的 —— 猫不会饿死，只会疏远</a:t>
            </a:r>
            <a:endParaRPr sz="1250" b="0">
              <a:solidFill>
                <a:srgbClr val="E9E7E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6144768"/>
            <a:ext cx="10607040" cy="211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像素校园 · AI 万事通　|　</a:t>
            </a:r>
            <a:r>
              <a:rPr lang="zh-CN"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张路坤</a:t>
            </a:r>
            <a:r>
              <a:rPr sz="1100" b="0">
                <a:solidFill>
                  <a:srgbClr val="8C959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 等五人　|　2026.09</a:t>
            </a:r>
            <a:endParaRPr sz="1100" b="0">
              <a:solidFill>
                <a:srgbClr val="8C959C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3869</Words>
  <Application>WPS 演示</Application>
  <PresentationFormat>On-screen Show (4:3)</PresentationFormat>
  <Paragraphs>456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Arial</vt:lpstr>
      <vt:lpstr>Consolas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匹夫</cp:lastModifiedBy>
  <cp:revision>3</cp:revision>
  <dcterms:created xsi:type="dcterms:W3CDTF">2013-01-27T09:14:00Z</dcterms:created>
  <dcterms:modified xsi:type="dcterms:W3CDTF">2026-09-18T06:15:52Z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0FB4BFC0ACED4059BC1F21F6F361E53D_12</vt:lpwstr>
  </property>
</Properties>
</file>